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6.jpg" ContentType="image/jpeg"/>
  <Override PartName="/ppt/media/image7.jpg" ContentType="image/jpeg"/>
  <Override PartName="/ppt/media/image8.jpg" ContentType="image/jpe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4" r:id="rId8"/>
    <p:sldId id="270" r:id="rId9"/>
    <p:sldId id="267" r:id="rId10"/>
    <p:sldId id="269" r:id="rId11"/>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EEE60C-C812-48F7-8936-0FD7B553BCA8}" v="38" dt="2025-12-26T19:06:53.74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p:cViewPr varScale="1">
        <p:scale>
          <a:sx n="103" d="100"/>
          <a:sy n="103" d="100"/>
        </p:scale>
        <p:origin x="192"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49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500" b="0" i="0">
                <a:solidFill>
                  <a:srgbClr val="434343"/>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500" b="0" i="0">
                <a:solidFill>
                  <a:srgbClr val="434343"/>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5143500"/>
          </a:xfrm>
          <a:prstGeom prst="rect">
            <a:avLst/>
          </a:prstGeom>
        </p:spPr>
      </p:pic>
      <p:sp>
        <p:nvSpPr>
          <p:cNvPr id="2" name="Holder 2"/>
          <p:cNvSpPr>
            <a:spLocks noGrp="1"/>
          </p:cNvSpPr>
          <p:nvPr>
            <p:ph type="title"/>
          </p:nvPr>
        </p:nvSpPr>
        <p:spPr/>
        <p:txBody>
          <a:bodyPr lIns="0" tIns="0" rIns="0" bIns="0"/>
          <a:lstStyle>
            <a:lvl1pPr>
              <a:defRPr sz="49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6300" y="4011083"/>
            <a:ext cx="3243579" cy="772160"/>
          </a:xfrm>
          <a:prstGeom prst="rect">
            <a:avLst/>
          </a:prstGeom>
        </p:spPr>
        <p:txBody>
          <a:bodyPr wrap="square" lIns="0" tIns="0" rIns="0" bIns="0">
            <a:spAutoFit/>
          </a:bodyPr>
          <a:lstStyle>
            <a:lvl1pPr>
              <a:defRPr sz="4900" b="1" i="0">
                <a:solidFill>
                  <a:schemeClr val="tx1"/>
                </a:solidFill>
                <a:latin typeface="Calibri"/>
                <a:cs typeface="Calibri"/>
              </a:defRPr>
            </a:lvl1pPr>
          </a:lstStyle>
          <a:p>
            <a:endParaRPr/>
          </a:p>
        </p:txBody>
      </p:sp>
      <p:sp>
        <p:nvSpPr>
          <p:cNvPr id="3" name="Holder 3"/>
          <p:cNvSpPr>
            <a:spLocks noGrp="1"/>
          </p:cNvSpPr>
          <p:nvPr>
            <p:ph type="body" idx="1"/>
          </p:nvPr>
        </p:nvSpPr>
        <p:spPr>
          <a:xfrm>
            <a:off x="796462" y="1776680"/>
            <a:ext cx="7609205" cy="1854200"/>
          </a:xfrm>
          <a:prstGeom prst="rect">
            <a:avLst/>
          </a:prstGeom>
        </p:spPr>
        <p:txBody>
          <a:bodyPr wrap="square" lIns="0" tIns="0" rIns="0" bIns="0">
            <a:spAutoFit/>
          </a:bodyPr>
          <a:lstStyle>
            <a:lvl1pPr>
              <a:defRPr sz="1500" b="0" i="0">
                <a:solidFill>
                  <a:srgbClr val="434343"/>
                </a:solidFill>
                <a:latin typeface="Calibri"/>
                <a:cs typeface="Calibri"/>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12/26/2025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5625" y="3259006"/>
            <a:ext cx="4980940" cy="1397000"/>
          </a:xfrm>
          <a:prstGeom prst="rect">
            <a:avLst/>
          </a:prstGeom>
        </p:spPr>
        <p:txBody>
          <a:bodyPr vert="horz" wrap="square" lIns="0" tIns="12700" rIns="0" bIns="0" rtlCol="0">
            <a:spAutoFit/>
          </a:bodyPr>
          <a:lstStyle/>
          <a:p>
            <a:pPr marL="12700">
              <a:lnSpc>
                <a:spcPct val="100000"/>
              </a:lnSpc>
              <a:spcBef>
                <a:spcPts val="100"/>
              </a:spcBef>
            </a:pPr>
            <a:r>
              <a:rPr sz="1800" b="1" spc="110" dirty="0">
                <a:solidFill>
                  <a:srgbClr val="434343"/>
                </a:solidFill>
                <a:latin typeface="Calibri"/>
                <a:cs typeface="Calibri"/>
              </a:rPr>
              <a:t>Team</a:t>
            </a:r>
            <a:r>
              <a:rPr sz="1800" b="1" spc="20" dirty="0">
                <a:solidFill>
                  <a:srgbClr val="434343"/>
                </a:solidFill>
                <a:latin typeface="Calibri"/>
                <a:cs typeface="Calibri"/>
              </a:rPr>
              <a:t> </a:t>
            </a:r>
            <a:r>
              <a:rPr sz="1800" b="1" spc="95" dirty="0">
                <a:solidFill>
                  <a:srgbClr val="434343"/>
                </a:solidFill>
                <a:latin typeface="Calibri"/>
                <a:cs typeface="Calibri"/>
              </a:rPr>
              <a:t>Details</a:t>
            </a:r>
            <a:endParaRPr sz="1800" dirty="0">
              <a:latin typeface="Calibri"/>
              <a:cs typeface="Calibri"/>
            </a:endParaRPr>
          </a:p>
          <a:p>
            <a:pPr marL="926465" indent="-421005">
              <a:lnSpc>
                <a:spcPct val="100000"/>
              </a:lnSpc>
              <a:spcBef>
                <a:spcPts val="2160"/>
              </a:spcBef>
              <a:buAutoNum type="alphaLcPeriod"/>
              <a:tabLst>
                <a:tab pos="926465" algn="l"/>
              </a:tabLst>
            </a:pPr>
            <a:r>
              <a:rPr sz="1800" b="1" spc="110" dirty="0">
                <a:solidFill>
                  <a:srgbClr val="434343"/>
                </a:solidFill>
                <a:latin typeface="Calibri"/>
                <a:cs typeface="Calibri"/>
              </a:rPr>
              <a:t>Team</a:t>
            </a:r>
            <a:r>
              <a:rPr sz="1800" b="1" spc="20" dirty="0">
                <a:solidFill>
                  <a:srgbClr val="434343"/>
                </a:solidFill>
                <a:latin typeface="Calibri"/>
                <a:cs typeface="Calibri"/>
              </a:rPr>
              <a:t> </a:t>
            </a:r>
            <a:r>
              <a:rPr sz="1800" b="1" spc="100" dirty="0">
                <a:solidFill>
                  <a:srgbClr val="434343"/>
                </a:solidFill>
                <a:latin typeface="Calibri"/>
                <a:cs typeface="Calibri"/>
              </a:rPr>
              <a:t>name:</a:t>
            </a:r>
            <a:endParaRPr sz="1800" dirty="0">
              <a:latin typeface="Calibri"/>
              <a:cs typeface="Calibri"/>
            </a:endParaRPr>
          </a:p>
          <a:p>
            <a:pPr marL="926465" indent="-433070">
              <a:lnSpc>
                <a:spcPct val="100000"/>
              </a:lnSpc>
              <a:buAutoNum type="alphaLcPeriod"/>
              <a:tabLst>
                <a:tab pos="926465" algn="l"/>
              </a:tabLst>
            </a:pPr>
            <a:r>
              <a:rPr sz="1800" b="1" spc="110" dirty="0">
                <a:solidFill>
                  <a:srgbClr val="434343"/>
                </a:solidFill>
                <a:latin typeface="Calibri"/>
                <a:cs typeface="Calibri"/>
              </a:rPr>
              <a:t>Team</a:t>
            </a:r>
            <a:r>
              <a:rPr sz="1800" b="1" spc="25" dirty="0">
                <a:solidFill>
                  <a:srgbClr val="434343"/>
                </a:solidFill>
                <a:latin typeface="Calibri"/>
                <a:cs typeface="Calibri"/>
              </a:rPr>
              <a:t> </a:t>
            </a:r>
            <a:r>
              <a:rPr sz="1800" b="1" spc="114" dirty="0">
                <a:solidFill>
                  <a:srgbClr val="434343"/>
                </a:solidFill>
                <a:latin typeface="Calibri"/>
                <a:cs typeface="Calibri"/>
              </a:rPr>
              <a:t>leader</a:t>
            </a:r>
            <a:r>
              <a:rPr sz="1800" b="1" spc="25" dirty="0">
                <a:solidFill>
                  <a:srgbClr val="434343"/>
                </a:solidFill>
                <a:latin typeface="Calibri"/>
                <a:cs typeface="Calibri"/>
              </a:rPr>
              <a:t> </a:t>
            </a:r>
            <a:r>
              <a:rPr sz="1800" b="1" spc="90" dirty="0">
                <a:solidFill>
                  <a:srgbClr val="434343"/>
                </a:solidFill>
                <a:latin typeface="Calibri"/>
                <a:cs typeface="Calibri"/>
              </a:rPr>
              <a:t>name:</a:t>
            </a:r>
            <a:endParaRPr sz="1800" dirty="0">
              <a:latin typeface="Calibri"/>
              <a:cs typeface="Calibri"/>
            </a:endParaRPr>
          </a:p>
          <a:p>
            <a:pPr marL="926465" indent="-422909">
              <a:lnSpc>
                <a:spcPct val="100000"/>
              </a:lnSpc>
              <a:buAutoNum type="alphaLcPeriod"/>
              <a:tabLst>
                <a:tab pos="926465" algn="l"/>
              </a:tabLst>
            </a:pPr>
            <a:r>
              <a:rPr sz="1800" b="1" spc="114" dirty="0">
                <a:solidFill>
                  <a:srgbClr val="434343"/>
                </a:solidFill>
                <a:latin typeface="Calibri"/>
                <a:cs typeface="Calibri"/>
              </a:rPr>
              <a:t>Problem</a:t>
            </a:r>
            <a:r>
              <a:rPr sz="1800" b="1" spc="15" dirty="0">
                <a:solidFill>
                  <a:srgbClr val="434343"/>
                </a:solidFill>
                <a:latin typeface="Calibri"/>
                <a:cs typeface="Calibri"/>
              </a:rPr>
              <a:t> </a:t>
            </a:r>
            <a:r>
              <a:rPr sz="1800" b="1" spc="105" dirty="0">
                <a:solidFill>
                  <a:srgbClr val="434343"/>
                </a:solidFill>
                <a:latin typeface="Calibri"/>
                <a:cs typeface="Calibri"/>
              </a:rPr>
              <a:t>Statement:</a:t>
            </a:r>
            <a:r>
              <a:rPr sz="1800" b="1" spc="15" dirty="0">
                <a:solidFill>
                  <a:srgbClr val="434343"/>
                </a:solidFill>
                <a:latin typeface="Calibri"/>
                <a:cs typeface="Calibri"/>
              </a:rPr>
              <a:t> </a:t>
            </a:r>
            <a:r>
              <a:rPr sz="1800" b="1" spc="180" dirty="0">
                <a:solidFill>
                  <a:srgbClr val="434343"/>
                </a:solidFill>
                <a:latin typeface="Calibri"/>
                <a:cs typeface="Calibri"/>
              </a:rPr>
              <a:t>Open</a:t>
            </a:r>
            <a:r>
              <a:rPr sz="1800" b="1" spc="20" dirty="0">
                <a:solidFill>
                  <a:srgbClr val="434343"/>
                </a:solidFill>
                <a:latin typeface="Calibri"/>
                <a:cs typeface="Calibri"/>
              </a:rPr>
              <a:t> </a:t>
            </a:r>
            <a:r>
              <a:rPr sz="1800" b="1" spc="85" dirty="0">
                <a:solidFill>
                  <a:srgbClr val="434343"/>
                </a:solidFill>
                <a:latin typeface="Calibri"/>
                <a:cs typeface="Calibri"/>
              </a:rPr>
              <a:t>Innovation</a:t>
            </a:r>
            <a:endParaRPr sz="1800" dirty="0">
              <a:latin typeface="Calibri"/>
              <a:cs typeface="Calibri"/>
            </a:endParaRPr>
          </a:p>
        </p:txBody>
      </p:sp>
      <p:pic>
        <p:nvPicPr>
          <p:cNvPr id="3" name="object 3"/>
          <p:cNvPicPr/>
          <p:nvPr/>
        </p:nvPicPr>
        <p:blipFill>
          <a:blip r:embed="rId2" cstate="print"/>
          <a:stretch>
            <a:fillRect/>
          </a:stretch>
        </p:blipFill>
        <p:spPr>
          <a:xfrm>
            <a:off x="0" y="0"/>
            <a:ext cx="9085198" cy="30283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9800" y="174174"/>
            <a:ext cx="1826526" cy="327424"/>
          </a:xfrm>
          <a:prstGeom prst="rect">
            <a:avLst/>
          </a:prstGeom>
        </p:spPr>
      </p:pic>
      <p:sp>
        <p:nvSpPr>
          <p:cNvPr id="11" name="Title 10">
            <a:extLst>
              <a:ext uri="{FF2B5EF4-FFF2-40B4-BE49-F238E27FC236}">
                <a16:creationId xmlns:a16="http://schemas.microsoft.com/office/drawing/2014/main" id="{47AD730B-9A48-1E37-B3DB-2815F8A30D30}"/>
              </a:ext>
            </a:extLst>
          </p:cNvPr>
          <p:cNvSpPr>
            <a:spLocks noGrp="1"/>
          </p:cNvSpPr>
          <p:nvPr>
            <p:ph type="ctrTitle"/>
          </p:nvPr>
        </p:nvSpPr>
        <p:spPr>
          <a:xfrm>
            <a:off x="609600" y="543878"/>
            <a:ext cx="7467600" cy="492443"/>
          </a:xfrm>
        </p:spPr>
        <p:txBody>
          <a:bodyPr/>
          <a:lstStyle/>
          <a:p>
            <a:r>
              <a:rPr lang="en-US" sz="1600" dirty="0"/>
              <a:t>Problem statement: </a:t>
            </a:r>
            <a:r>
              <a:rPr lang="en-US" sz="1600" b="0" dirty="0"/>
              <a:t>“An AI-powered sensor system that protects crops and saves water by alerting farmers before failure occurs.”</a:t>
            </a:r>
            <a:endParaRPr lang="en-IN" sz="1600" b="0" dirty="0"/>
          </a:p>
        </p:txBody>
      </p:sp>
      <p:sp>
        <p:nvSpPr>
          <p:cNvPr id="13" name="Rectangle 43">
            <a:extLst>
              <a:ext uri="{FF2B5EF4-FFF2-40B4-BE49-F238E27FC236}">
                <a16:creationId xmlns:a16="http://schemas.microsoft.com/office/drawing/2014/main" id="{66DB85B3-F80D-AD63-1771-12281EF44064}"/>
              </a:ext>
            </a:extLst>
          </p:cNvPr>
          <p:cNvSpPr>
            <a:spLocks noChangeArrowheads="1"/>
          </p:cNvSpPr>
          <p:nvPr/>
        </p:nvSpPr>
        <p:spPr bwMode="auto">
          <a:xfrm>
            <a:off x="3556191" y="990600"/>
            <a:ext cx="798053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12" tIns="914112" rIns="914112" bIns="484035" numCol="1" anchor="ctr" anchorCtr="0" compatLnSpc="1">
            <a:prstTxWarp prst="textNoShape">
              <a:avLst/>
            </a:prstTxWarp>
            <a:spAutoFit/>
          </a:bodyPr>
          <a:lstStyle/>
          <a:p>
            <a:endParaRPr lang="en-IN"/>
          </a:p>
        </p:txBody>
      </p:sp>
      <p:sp>
        <p:nvSpPr>
          <p:cNvPr id="56" name="Rectangle 57">
            <a:extLst>
              <a:ext uri="{FF2B5EF4-FFF2-40B4-BE49-F238E27FC236}">
                <a16:creationId xmlns:a16="http://schemas.microsoft.com/office/drawing/2014/main" id="{6BD08AFF-C026-01C5-6CCD-F1A86C2F0F62}"/>
              </a:ext>
            </a:extLst>
          </p:cNvPr>
          <p:cNvSpPr>
            <a:spLocks noChangeArrowheads="1"/>
          </p:cNvSpPr>
          <p:nvPr/>
        </p:nvSpPr>
        <p:spPr bwMode="auto">
          <a:xfrm>
            <a:off x="3556191" y="5192782"/>
            <a:ext cx="79805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a:ln>
                <a:noFill/>
              </a:ln>
              <a:solidFill>
                <a:srgbClr val="000000"/>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000000"/>
                </a:solidFill>
                <a:effectLst/>
                <a:latin typeface="Arial" panose="020B0604020202020204" pitchFamily="34" charset="0"/>
                <a:ea typeface="Calibri" panose="020F050202020403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Subtitle 57">
            <a:extLst>
              <a:ext uri="{FF2B5EF4-FFF2-40B4-BE49-F238E27FC236}">
                <a16:creationId xmlns:a16="http://schemas.microsoft.com/office/drawing/2014/main" id="{C2527B4B-632C-0411-9DE3-81097BCF76E7}"/>
              </a:ext>
            </a:extLst>
          </p:cNvPr>
          <p:cNvSpPr>
            <a:spLocks noGrp="1"/>
          </p:cNvSpPr>
          <p:nvPr>
            <p:ph type="subTitle" idx="4"/>
          </p:nvPr>
        </p:nvSpPr>
        <p:spPr>
          <a:xfrm>
            <a:off x="553868" y="4476750"/>
            <a:ext cx="7980532" cy="461665"/>
          </a:xfrm>
        </p:spPr>
        <p:txBody>
          <a:bodyPr/>
          <a:lstStyle/>
          <a:p>
            <a:r>
              <a:rPr lang="en-US" dirty="0"/>
              <a:t>One-Line Impact Statement (Hackathon Style)“Turning agricultural data into early warnings—because preventing crop failure is a smarter opportunity than recovering from loss.”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9800" y="174174"/>
            <a:ext cx="1826526" cy="327424"/>
          </a:xfrm>
          <a:prstGeom prst="rect">
            <a:avLst/>
          </a:prstGeom>
        </p:spPr>
      </p:pic>
      <p:sp>
        <p:nvSpPr>
          <p:cNvPr id="4" name="Title 3">
            <a:extLst>
              <a:ext uri="{FF2B5EF4-FFF2-40B4-BE49-F238E27FC236}">
                <a16:creationId xmlns:a16="http://schemas.microsoft.com/office/drawing/2014/main" id="{DE1C5D3E-6DD8-68C8-312C-394400657A55}"/>
              </a:ext>
            </a:extLst>
          </p:cNvPr>
          <p:cNvSpPr>
            <a:spLocks noGrp="1"/>
          </p:cNvSpPr>
          <p:nvPr>
            <p:ph type="ctrTitle"/>
          </p:nvPr>
        </p:nvSpPr>
        <p:spPr>
          <a:xfrm>
            <a:off x="540800" y="552023"/>
            <a:ext cx="8298400" cy="276999"/>
          </a:xfrm>
        </p:spPr>
        <p:txBody>
          <a:bodyPr/>
          <a:lstStyle/>
          <a:p>
            <a:r>
              <a:rPr lang="en-US" sz="1800" dirty="0"/>
              <a:t>Opportunities:</a:t>
            </a:r>
            <a:endParaRPr lang="en-IN" sz="1800" dirty="0"/>
          </a:p>
        </p:txBody>
      </p:sp>
      <p:sp>
        <p:nvSpPr>
          <p:cNvPr id="5" name="Subtitle 4">
            <a:extLst>
              <a:ext uri="{FF2B5EF4-FFF2-40B4-BE49-F238E27FC236}">
                <a16:creationId xmlns:a16="http://schemas.microsoft.com/office/drawing/2014/main" id="{63FD588C-4517-8AEF-5977-41D7AFD128F6}"/>
              </a:ext>
            </a:extLst>
          </p:cNvPr>
          <p:cNvSpPr>
            <a:spLocks noGrp="1"/>
          </p:cNvSpPr>
          <p:nvPr>
            <p:ph type="subTitle" idx="4"/>
          </p:nvPr>
        </p:nvSpPr>
        <p:spPr>
          <a:xfrm>
            <a:off x="457200" y="1047750"/>
            <a:ext cx="7696200" cy="3693319"/>
          </a:xfrm>
        </p:spPr>
        <p:txBody>
          <a:bodyPr/>
          <a:lstStyle/>
          <a:p>
            <a:r>
              <a:rPr lang="en-US" dirty="0" err="1"/>
              <a:t>a.How</a:t>
            </a:r>
            <a:r>
              <a:rPr lang="en-US" dirty="0"/>
              <a:t> different is it from any of the other existing ideas?  </a:t>
            </a:r>
          </a:p>
          <a:p>
            <a:endParaRPr lang="en-US" dirty="0"/>
          </a:p>
          <a:p>
            <a:r>
              <a:rPr lang="en-US" b="1" dirty="0"/>
              <a:t>Predictive AI</a:t>
            </a:r>
            <a:r>
              <a:rPr lang="en-US" dirty="0"/>
              <a:t>: Replacing old statistical averages with machine learning (LSTM/</a:t>
            </a:r>
            <a:r>
              <a:rPr lang="en-US" dirty="0" err="1"/>
              <a:t>XGBoost</a:t>
            </a:r>
            <a:r>
              <a:rPr lang="en-US" dirty="0"/>
              <a:t>) to forecast failures months in advance.</a:t>
            </a:r>
          </a:p>
          <a:p>
            <a:r>
              <a:rPr lang="en-US" b="1" dirty="0"/>
              <a:t>Data Fusion</a:t>
            </a:r>
            <a:r>
              <a:rPr lang="en-US" dirty="0"/>
              <a:t>: Combining IoT soil sensors with satellite and drone imagery for precise, plant-level monitoring.</a:t>
            </a:r>
          </a:p>
          <a:p>
            <a:r>
              <a:rPr lang="en-US" b="1" dirty="0"/>
              <a:t>Proactive Precision</a:t>
            </a:r>
            <a:r>
              <a:rPr lang="en-US" dirty="0"/>
              <a:t>: Moving from reactive disaster relief to precision irrigation that prevents crop failure before it occurs.</a:t>
            </a:r>
          </a:p>
          <a:p>
            <a:endParaRPr lang="en-US" dirty="0"/>
          </a:p>
          <a:p>
            <a:r>
              <a:rPr lang="en-US" dirty="0"/>
              <a:t>b. How will it be able to solve the problem?</a:t>
            </a:r>
          </a:p>
          <a:p>
            <a:endParaRPr lang="en-US" dirty="0"/>
          </a:p>
          <a:p>
            <a:r>
              <a:rPr lang="en-US" b="1" dirty="0"/>
              <a:t>AI Precision</a:t>
            </a:r>
            <a:r>
              <a:rPr lang="en-US" dirty="0"/>
              <a:t>: Automated irrigation using IoT sensors to cut water waste by 50%.</a:t>
            </a:r>
          </a:p>
          <a:p>
            <a:r>
              <a:rPr lang="en-US" b="1" dirty="0"/>
              <a:t>Soil Resilience</a:t>
            </a:r>
            <a:r>
              <a:rPr lang="en-US" dirty="0"/>
              <a:t>: Regenerative farming (no-till, cover crops) to store 20,000 extra gallons of water per acre.</a:t>
            </a:r>
          </a:p>
          <a:p>
            <a:r>
              <a:rPr lang="en-US" b="1" dirty="0"/>
              <a:t>New Sources</a:t>
            </a:r>
            <a:r>
              <a:rPr lang="en-US" dirty="0"/>
              <a:t>: Solar-powered water extraction from air and advanced wastewater recycling for decentralized supply.</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47800" y="438150"/>
            <a:ext cx="4267200" cy="289823"/>
          </a:xfrm>
          <a:prstGeom prst="rect">
            <a:avLst/>
          </a:prstGeom>
        </p:spPr>
        <p:txBody>
          <a:bodyPr vert="horz" wrap="square" lIns="0" tIns="12700" rIns="0" bIns="0" rtlCol="0">
            <a:spAutoFit/>
          </a:bodyPr>
          <a:lstStyle/>
          <a:p>
            <a:pPr marL="12700">
              <a:lnSpc>
                <a:spcPct val="100000"/>
              </a:lnSpc>
              <a:spcBef>
                <a:spcPts val="100"/>
              </a:spcBef>
            </a:pPr>
            <a:r>
              <a:rPr sz="1800" b="1" spc="130" dirty="0">
                <a:solidFill>
                  <a:srgbClr val="434343"/>
                </a:solidFill>
                <a:latin typeface="Calibri"/>
                <a:cs typeface="Calibri"/>
              </a:rPr>
              <a:t>List</a:t>
            </a:r>
            <a:r>
              <a:rPr sz="1800" b="1" spc="25" dirty="0">
                <a:solidFill>
                  <a:srgbClr val="434343"/>
                </a:solidFill>
                <a:latin typeface="Calibri"/>
                <a:cs typeface="Calibri"/>
              </a:rPr>
              <a:t> </a:t>
            </a:r>
            <a:r>
              <a:rPr sz="1800" b="1" spc="110" dirty="0">
                <a:solidFill>
                  <a:srgbClr val="434343"/>
                </a:solidFill>
                <a:latin typeface="Calibri"/>
                <a:cs typeface="Calibri"/>
              </a:rPr>
              <a:t>of</a:t>
            </a:r>
            <a:r>
              <a:rPr sz="1800" b="1" spc="25" dirty="0">
                <a:solidFill>
                  <a:srgbClr val="434343"/>
                </a:solidFill>
                <a:latin typeface="Calibri"/>
                <a:cs typeface="Calibri"/>
              </a:rPr>
              <a:t> </a:t>
            </a:r>
            <a:r>
              <a:rPr sz="1800" b="1" spc="114" dirty="0">
                <a:solidFill>
                  <a:srgbClr val="434343"/>
                </a:solidFill>
                <a:latin typeface="Calibri"/>
                <a:cs typeface="Calibri"/>
              </a:rPr>
              <a:t>features</a:t>
            </a:r>
            <a:r>
              <a:rPr sz="1800" b="1" spc="25" dirty="0">
                <a:solidFill>
                  <a:srgbClr val="434343"/>
                </a:solidFill>
                <a:latin typeface="Calibri"/>
                <a:cs typeface="Calibri"/>
              </a:rPr>
              <a:t> </a:t>
            </a:r>
            <a:r>
              <a:rPr sz="1800" b="1" spc="105" dirty="0">
                <a:solidFill>
                  <a:srgbClr val="434343"/>
                </a:solidFill>
                <a:latin typeface="Calibri"/>
                <a:cs typeface="Calibri"/>
              </a:rPr>
              <a:t>offered</a:t>
            </a:r>
            <a:r>
              <a:rPr sz="1800" b="1" spc="25" dirty="0">
                <a:solidFill>
                  <a:srgbClr val="434343"/>
                </a:solidFill>
                <a:latin typeface="Calibri"/>
                <a:cs typeface="Calibri"/>
              </a:rPr>
              <a:t> </a:t>
            </a:r>
            <a:r>
              <a:rPr sz="1800" b="1" spc="145" dirty="0">
                <a:solidFill>
                  <a:srgbClr val="434343"/>
                </a:solidFill>
                <a:latin typeface="Calibri"/>
                <a:cs typeface="Calibri"/>
              </a:rPr>
              <a:t>by</a:t>
            </a:r>
            <a:r>
              <a:rPr sz="1800" b="1" spc="25" dirty="0">
                <a:solidFill>
                  <a:srgbClr val="434343"/>
                </a:solidFill>
                <a:latin typeface="Calibri"/>
                <a:cs typeface="Calibri"/>
              </a:rPr>
              <a:t> </a:t>
            </a:r>
            <a:r>
              <a:rPr sz="1800" b="1" spc="120" dirty="0">
                <a:solidFill>
                  <a:srgbClr val="434343"/>
                </a:solidFill>
                <a:latin typeface="Calibri"/>
                <a:cs typeface="Calibri"/>
              </a:rPr>
              <a:t>the</a:t>
            </a:r>
            <a:r>
              <a:rPr sz="1800" b="1" spc="30" dirty="0">
                <a:solidFill>
                  <a:srgbClr val="434343"/>
                </a:solidFill>
                <a:latin typeface="Calibri"/>
                <a:cs typeface="Calibri"/>
              </a:rPr>
              <a:t> </a:t>
            </a:r>
            <a:r>
              <a:rPr sz="1800" b="1" spc="95" dirty="0">
                <a:solidFill>
                  <a:srgbClr val="434343"/>
                </a:solidFill>
                <a:latin typeface="Calibri"/>
                <a:cs typeface="Calibri"/>
              </a:rPr>
              <a:t>solution</a:t>
            </a:r>
            <a:endParaRPr sz="1800" dirty="0">
              <a:latin typeface="Calibri"/>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sp>
        <p:nvSpPr>
          <p:cNvPr id="20" name="Title 19">
            <a:extLst>
              <a:ext uri="{FF2B5EF4-FFF2-40B4-BE49-F238E27FC236}">
                <a16:creationId xmlns:a16="http://schemas.microsoft.com/office/drawing/2014/main" id="{331EBFEC-C707-C8FA-0725-291F1B21E6EA}"/>
              </a:ext>
            </a:extLst>
          </p:cNvPr>
          <p:cNvSpPr>
            <a:spLocks noGrp="1"/>
          </p:cNvSpPr>
          <p:nvPr>
            <p:ph type="ctrTitle"/>
          </p:nvPr>
        </p:nvSpPr>
        <p:spPr>
          <a:xfrm>
            <a:off x="228600" y="991949"/>
            <a:ext cx="5526300" cy="3977377"/>
          </a:xfrm>
        </p:spPr>
        <p:txBody>
          <a:bodyPr/>
          <a:lstStyle/>
          <a:p>
            <a:r>
              <a:rPr lang="en-IN" sz="1400" b="0" dirty="0"/>
              <a:t>🌱 Real-Time Soil Moisture Monitoring Continuously measures soil water content using field sensors.</a:t>
            </a:r>
            <a:br>
              <a:rPr lang="en-IN" sz="1400" b="0" dirty="0"/>
            </a:br>
            <a:r>
              <a:rPr lang="en-IN" sz="1400" b="0" dirty="0"/>
              <a:t>🌦 Weather &amp; Rainfall Detection Tracks temperature, humidity, and rainfall conditions affecting crops.</a:t>
            </a:r>
            <a:br>
              <a:rPr lang="en-IN" sz="1400" b="0" dirty="0"/>
            </a:br>
            <a:r>
              <a:rPr lang="en-IN" sz="1400" b="0" dirty="0"/>
              <a:t>🤖 AI-Based Water Scarcity Prediction Predicts upcoming water shortage based on sensor data patterns.</a:t>
            </a:r>
            <a:br>
              <a:rPr lang="en-IN" sz="1400" b="0" dirty="0"/>
            </a:br>
            <a:r>
              <a:rPr lang="en-IN" sz="1400" b="0" dirty="0"/>
              <a:t>🌾 Crop Failure Risk Prediction Identifies early signs of crop stress and potential failure.</a:t>
            </a:r>
            <a:br>
              <a:rPr lang="en-IN" sz="1400" b="0" dirty="0"/>
            </a:br>
            <a:r>
              <a:rPr lang="en-IN" sz="1400" b="0" dirty="0"/>
              <a:t>🚨 Early Warning Alerts Provides alerts using LED indicators and buzzer signals.</a:t>
            </a:r>
            <a:br>
              <a:rPr lang="en-IN" sz="1400" b="0" dirty="0"/>
            </a:br>
            <a:r>
              <a:rPr lang="en-IN" sz="1400" b="0" dirty="0"/>
              <a:t>🔁 Automatic Irrigation Control Automatically switches irrigation ON/OFF to prevent under or over-watering.</a:t>
            </a:r>
            <a:br>
              <a:rPr lang="en-IN" sz="1400" b="0" dirty="0"/>
            </a:br>
            <a:r>
              <a:rPr lang="en-IN" sz="1400" b="0" dirty="0"/>
              <a:t>👨‍🌾 Farmer-Friendly Hardware Interface Works without smartphones, apps, or literacy.</a:t>
            </a:r>
            <a:br>
              <a:rPr lang="en-IN" sz="1400" b="0" dirty="0"/>
            </a:br>
            <a:r>
              <a:rPr lang="en-IN" sz="1400" b="0" dirty="0"/>
              <a:t>⚡ Low-Cost &amp; Energy Efficient Design Suitable for rural deployment, optional solar power support.</a:t>
            </a:r>
            <a:br>
              <a:rPr lang="en-IN" sz="1400" b="0" dirty="0"/>
            </a:br>
            <a:r>
              <a:rPr lang="en-IN" sz="1400" b="0" dirty="0"/>
              <a:t>🌍 Supports Sustainable Agriculture Saves water, improves yield, and reduces resource wastage.</a:t>
            </a:r>
          </a:p>
        </p:txBody>
      </p:sp>
      <p:sp>
        <p:nvSpPr>
          <p:cNvPr id="21" name="Subtitle 20">
            <a:extLst>
              <a:ext uri="{FF2B5EF4-FFF2-40B4-BE49-F238E27FC236}">
                <a16:creationId xmlns:a16="http://schemas.microsoft.com/office/drawing/2014/main" id="{AFC6982B-0DD6-C12A-E2EE-9874402535F6}"/>
              </a:ext>
            </a:extLst>
          </p:cNvPr>
          <p:cNvSpPr>
            <a:spLocks noGrp="1"/>
          </p:cNvSpPr>
          <p:nvPr>
            <p:ph type="subTitle" idx="4"/>
          </p:nvPr>
        </p:nvSpPr>
        <p:spPr>
          <a:xfrm>
            <a:off x="5754900" y="57150"/>
            <a:ext cx="3352800" cy="5029200"/>
          </a:xfrm>
        </p:spPr>
        <p:txBody>
          <a:bodyPr/>
          <a:lstStyle/>
          <a:p>
            <a:endParaRPr lang="en-IN" dirty="0"/>
          </a:p>
        </p:txBody>
      </p:sp>
      <p:pic>
        <p:nvPicPr>
          <p:cNvPr id="25" name="Picture 24">
            <a:extLst>
              <a:ext uri="{FF2B5EF4-FFF2-40B4-BE49-F238E27FC236}">
                <a16:creationId xmlns:a16="http://schemas.microsoft.com/office/drawing/2014/main" id="{062218F6-5947-DDC9-6121-0BFEC75614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4900" y="0"/>
            <a:ext cx="335280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850" y="919104"/>
            <a:ext cx="4873550" cy="3872855"/>
          </a:xfrm>
          <a:prstGeom prst="rect">
            <a:avLst/>
          </a:prstGeom>
        </p:spPr>
        <p:txBody>
          <a:bodyPr vert="horz" wrap="square" lIns="0" tIns="12700" rIns="0" bIns="0" rtlCol="0">
            <a:spAutoFit/>
          </a:bodyPr>
          <a:lstStyle/>
          <a:p>
            <a:pPr marL="12700">
              <a:lnSpc>
                <a:spcPct val="100000"/>
              </a:lnSpc>
              <a:spcBef>
                <a:spcPts val="100"/>
              </a:spcBef>
            </a:pPr>
            <a:r>
              <a:rPr lang="en-US" sz="1800" b="1" spc="170" dirty="0">
                <a:solidFill>
                  <a:srgbClr val="434343"/>
                </a:solidFill>
                <a:latin typeface="Calibri"/>
                <a:cs typeface="Calibri"/>
              </a:rPr>
              <a:t>Google</a:t>
            </a:r>
            <a:r>
              <a:rPr lang="en-US" sz="1800" b="1" spc="25" dirty="0">
                <a:solidFill>
                  <a:srgbClr val="434343"/>
                </a:solidFill>
                <a:latin typeface="Calibri"/>
                <a:cs typeface="Calibri"/>
              </a:rPr>
              <a:t> </a:t>
            </a:r>
            <a:r>
              <a:rPr lang="en-US" sz="1800" b="1" spc="130" dirty="0">
                <a:solidFill>
                  <a:srgbClr val="434343"/>
                </a:solidFill>
                <a:latin typeface="Calibri"/>
                <a:cs typeface="Calibri"/>
              </a:rPr>
              <a:t>Technologies</a:t>
            </a:r>
            <a:r>
              <a:rPr lang="en-US" sz="1800" b="1" spc="25" dirty="0">
                <a:solidFill>
                  <a:srgbClr val="434343"/>
                </a:solidFill>
                <a:latin typeface="Calibri"/>
                <a:cs typeface="Calibri"/>
              </a:rPr>
              <a:t> </a:t>
            </a:r>
            <a:r>
              <a:rPr lang="en-US" sz="1800" b="1" spc="150" dirty="0">
                <a:solidFill>
                  <a:srgbClr val="434343"/>
                </a:solidFill>
                <a:latin typeface="Calibri"/>
                <a:cs typeface="Calibri"/>
              </a:rPr>
              <a:t>used</a:t>
            </a:r>
            <a:r>
              <a:rPr lang="en-US" sz="1800" b="1" spc="25" dirty="0">
                <a:solidFill>
                  <a:srgbClr val="434343"/>
                </a:solidFill>
                <a:latin typeface="Calibri"/>
                <a:cs typeface="Calibri"/>
              </a:rPr>
              <a:t> </a:t>
            </a:r>
            <a:r>
              <a:rPr lang="en-US" sz="1800" b="1" spc="60" dirty="0">
                <a:solidFill>
                  <a:srgbClr val="434343"/>
                </a:solidFill>
                <a:latin typeface="Calibri"/>
                <a:cs typeface="Calibri"/>
              </a:rPr>
              <a:t>in</a:t>
            </a:r>
            <a:r>
              <a:rPr lang="en-US" sz="1800" b="1" spc="25" dirty="0">
                <a:solidFill>
                  <a:srgbClr val="434343"/>
                </a:solidFill>
                <a:latin typeface="Calibri"/>
                <a:cs typeface="Calibri"/>
              </a:rPr>
              <a:t> </a:t>
            </a:r>
            <a:r>
              <a:rPr lang="en-US" sz="1800" b="1" spc="120" dirty="0">
                <a:solidFill>
                  <a:srgbClr val="434343"/>
                </a:solidFill>
                <a:latin typeface="Calibri"/>
                <a:cs typeface="Calibri"/>
              </a:rPr>
              <a:t>the</a:t>
            </a:r>
            <a:r>
              <a:rPr lang="en-US" sz="1800" b="1" spc="25" dirty="0">
                <a:solidFill>
                  <a:srgbClr val="434343"/>
                </a:solidFill>
                <a:latin typeface="Calibri"/>
                <a:cs typeface="Calibri"/>
              </a:rPr>
              <a:t> </a:t>
            </a:r>
            <a:r>
              <a:rPr lang="en-US" sz="1800" b="1" spc="95" dirty="0">
                <a:solidFill>
                  <a:srgbClr val="434343"/>
                </a:solidFill>
                <a:latin typeface="Calibri"/>
                <a:cs typeface="Calibri"/>
              </a:rPr>
              <a:t>solution</a:t>
            </a:r>
          </a:p>
          <a:p>
            <a:pPr marL="12700">
              <a:lnSpc>
                <a:spcPct val="100000"/>
              </a:lnSpc>
              <a:spcBef>
                <a:spcPts val="100"/>
              </a:spcBef>
            </a:pPr>
            <a:endParaRPr lang="en-US" b="1" spc="95" dirty="0">
              <a:solidFill>
                <a:srgbClr val="434343"/>
              </a:solidFill>
              <a:latin typeface="Calibri"/>
              <a:cs typeface="Calibri"/>
            </a:endParaRPr>
          </a:p>
          <a:p>
            <a:pPr marL="355600" indent="-342900">
              <a:lnSpc>
                <a:spcPct val="100000"/>
              </a:lnSpc>
              <a:spcBef>
                <a:spcPts val="100"/>
              </a:spcBef>
              <a:buFont typeface="Wingdings" panose="05000000000000000000" pitchFamily="2" charset="2"/>
              <a:buChar char="Ø"/>
            </a:pPr>
            <a:r>
              <a:rPr lang="en-US" b="1" spc="95" dirty="0">
                <a:solidFill>
                  <a:srgbClr val="434343"/>
                </a:solidFill>
                <a:latin typeface="Calibri"/>
                <a:cs typeface="Calibri"/>
              </a:rPr>
              <a:t>Crop Surveillance Using Drone: </a:t>
            </a:r>
            <a:r>
              <a:rPr lang="en-US" sz="1400" spc="95" dirty="0">
                <a:solidFill>
                  <a:srgbClr val="434343"/>
                </a:solidFill>
                <a:latin typeface="Calibri"/>
                <a:cs typeface="Calibri"/>
              </a:rPr>
              <a:t>Crop surveillance using drones is the use of drones to monitor crop health, growth, and problems by capturing images and data from the air</a:t>
            </a:r>
            <a:endParaRPr lang="en-US" sz="1200" spc="95" dirty="0">
              <a:solidFill>
                <a:srgbClr val="434343"/>
              </a:solidFill>
              <a:latin typeface="Calibri"/>
              <a:cs typeface="Calibri"/>
            </a:endParaRPr>
          </a:p>
          <a:p>
            <a:pPr marL="355600" indent="-342900">
              <a:lnSpc>
                <a:spcPct val="100000"/>
              </a:lnSpc>
              <a:spcBef>
                <a:spcPts val="100"/>
              </a:spcBef>
              <a:buFont typeface="Wingdings" panose="05000000000000000000" pitchFamily="2" charset="2"/>
              <a:buChar char="Ø"/>
            </a:pPr>
            <a:r>
              <a:rPr lang="en-US" b="1" spc="95" dirty="0">
                <a:solidFill>
                  <a:srgbClr val="434343"/>
                </a:solidFill>
                <a:latin typeface="Calibri"/>
                <a:cs typeface="Calibri"/>
              </a:rPr>
              <a:t>Temperature Sensor</a:t>
            </a:r>
            <a:r>
              <a:rPr lang="en-US" sz="1400" spc="95" dirty="0">
                <a:solidFill>
                  <a:srgbClr val="434343"/>
                </a:solidFill>
                <a:latin typeface="Calibri"/>
                <a:cs typeface="Calibri"/>
              </a:rPr>
              <a:t>: A device that measures how hot or cold the environment is.</a:t>
            </a:r>
          </a:p>
          <a:p>
            <a:pPr marL="355600" indent="-342900">
              <a:lnSpc>
                <a:spcPct val="100000"/>
              </a:lnSpc>
              <a:spcBef>
                <a:spcPts val="100"/>
              </a:spcBef>
              <a:buFont typeface="Wingdings" panose="05000000000000000000" pitchFamily="2" charset="2"/>
              <a:buChar char="Ø"/>
            </a:pPr>
            <a:r>
              <a:rPr lang="en-US" b="1" spc="95" dirty="0">
                <a:solidFill>
                  <a:srgbClr val="434343"/>
                </a:solidFill>
                <a:latin typeface="Calibri"/>
                <a:cs typeface="Calibri"/>
              </a:rPr>
              <a:t>Soil moisture sensor</a:t>
            </a:r>
            <a:r>
              <a:rPr lang="en-US" sz="1400" spc="95" dirty="0">
                <a:solidFill>
                  <a:srgbClr val="434343"/>
                </a:solidFill>
                <a:latin typeface="Calibri"/>
                <a:cs typeface="Calibri"/>
              </a:rPr>
              <a:t>: A device that measures how much water is present in the soil.</a:t>
            </a:r>
          </a:p>
          <a:p>
            <a:pPr marL="355600" indent="-342900">
              <a:lnSpc>
                <a:spcPct val="100000"/>
              </a:lnSpc>
              <a:spcBef>
                <a:spcPts val="100"/>
              </a:spcBef>
              <a:buFont typeface="Wingdings" panose="05000000000000000000" pitchFamily="2" charset="2"/>
              <a:buChar char="Ø"/>
            </a:pPr>
            <a:r>
              <a:rPr lang="en-US" b="1" spc="95" dirty="0">
                <a:solidFill>
                  <a:srgbClr val="434343"/>
                </a:solidFill>
                <a:latin typeface="Calibri"/>
                <a:cs typeface="Calibri"/>
              </a:rPr>
              <a:t>Smart Irrigation: </a:t>
            </a:r>
            <a:r>
              <a:rPr lang="en-US" sz="1400" spc="95" dirty="0">
                <a:solidFill>
                  <a:srgbClr val="434343"/>
                </a:solidFill>
                <a:latin typeface="Calibri"/>
                <a:cs typeface="Calibri"/>
              </a:rPr>
              <a:t>Smart irrigation is the use of technology to water plants only when and how much they need, reducing water waste and improving efficiency.</a:t>
            </a:r>
          </a:p>
          <a:p>
            <a:pPr marL="355600" indent="-342900">
              <a:lnSpc>
                <a:spcPct val="100000"/>
              </a:lnSpc>
              <a:spcBef>
                <a:spcPts val="100"/>
              </a:spcBef>
              <a:buFont typeface="Wingdings" panose="05000000000000000000" pitchFamily="2" charset="2"/>
              <a:buChar char="Ø"/>
            </a:pPr>
            <a:endParaRPr lang="en-US" sz="1400" u="sng" spc="95" dirty="0">
              <a:solidFill>
                <a:srgbClr val="434343"/>
              </a:solidFill>
              <a:latin typeface="Calibri"/>
              <a:cs typeface="Calibri"/>
            </a:endParaRPr>
          </a:p>
          <a:p>
            <a:pPr marL="12700">
              <a:lnSpc>
                <a:spcPct val="100000"/>
              </a:lnSpc>
              <a:spcBef>
                <a:spcPts val="100"/>
              </a:spcBef>
            </a:pPr>
            <a:endParaRPr lang="en-US" sz="1100" b="1" u="sng" spc="95" dirty="0">
              <a:solidFill>
                <a:srgbClr val="434343"/>
              </a:solidFill>
              <a:latin typeface="Calibri"/>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7" name="Picture 6" descr="A diagram of a crop surveillance using drone&#10;&#10;AI-generated content may be incorrect.">
            <a:extLst>
              <a:ext uri="{FF2B5EF4-FFF2-40B4-BE49-F238E27FC236}">
                <a16:creationId xmlns:a16="http://schemas.microsoft.com/office/drawing/2014/main" id="{A85FF4FD-BC5C-CF83-63B4-1EF2525BD1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7800" y="361950"/>
            <a:ext cx="3581400" cy="44300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590551"/>
            <a:ext cx="7086600" cy="320601"/>
          </a:xfrm>
          <a:prstGeom prst="rect">
            <a:avLst/>
          </a:prstGeom>
        </p:spPr>
        <p:txBody>
          <a:bodyPr vert="horz" wrap="square" lIns="0" tIns="12700" rIns="0" bIns="0" rtlCol="0">
            <a:spAutoFit/>
          </a:bodyPr>
          <a:lstStyle/>
          <a:p>
            <a:pPr marL="12700">
              <a:lnSpc>
                <a:spcPct val="100000"/>
              </a:lnSpc>
              <a:spcBef>
                <a:spcPts val="100"/>
              </a:spcBef>
            </a:pPr>
            <a:r>
              <a:rPr lang="en-US" sz="1800" b="1" spc="160" dirty="0">
                <a:solidFill>
                  <a:srgbClr val="434343"/>
                </a:solidFill>
                <a:latin typeface="Calibri"/>
                <a:cs typeface="Calibri"/>
              </a:rPr>
              <a:t>                          </a:t>
            </a:r>
            <a:r>
              <a:rPr sz="2000" b="1" spc="160" dirty="0">
                <a:solidFill>
                  <a:srgbClr val="434343"/>
                </a:solidFill>
                <a:latin typeface="Calibri"/>
                <a:cs typeface="Calibri"/>
              </a:rPr>
              <a:t>Process</a:t>
            </a:r>
            <a:r>
              <a:rPr sz="2000" b="1" spc="15" dirty="0">
                <a:solidFill>
                  <a:srgbClr val="434343"/>
                </a:solidFill>
                <a:latin typeface="Calibri"/>
                <a:cs typeface="Calibri"/>
              </a:rPr>
              <a:t> </a:t>
            </a:r>
            <a:r>
              <a:rPr sz="2000" b="1" spc="100" dirty="0">
                <a:solidFill>
                  <a:srgbClr val="434343"/>
                </a:solidFill>
                <a:latin typeface="Calibri"/>
                <a:cs typeface="Calibri"/>
              </a:rPr>
              <a:t>flow</a:t>
            </a:r>
            <a:r>
              <a:rPr sz="2000" b="1" spc="20" dirty="0">
                <a:solidFill>
                  <a:srgbClr val="434343"/>
                </a:solidFill>
                <a:latin typeface="Calibri"/>
                <a:cs typeface="Calibri"/>
              </a:rPr>
              <a:t> </a:t>
            </a:r>
            <a:r>
              <a:rPr sz="2000" b="1" spc="130" dirty="0">
                <a:solidFill>
                  <a:srgbClr val="434343"/>
                </a:solidFill>
                <a:latin typeface="Calibri"/>
                <a:cs typeface="Calibri"/>
              </a:rPr>
              <a:t>diagram</a:t>
            </a:r>
            <a:r>
              <a:rPr sz="2000" b="1" spc="20" dirty="0">
                <a:solidFill>
                  <a:srgbClr val="434343"/>
                </a:solidFill>
                <a:latin typeface="Calibri"/>
                <a:cs typeface="Calibri"/>
              </a:rPr>
              <a:t> </a:t>
            </a:r>
            <a:r>
              <a:rPr sz="2000" b="1" spc="125" dirty="0">
                <a:solidFill>
                  <a:srgbClr val="434343"/>
                </a:solidFill>
                <a:latin typeface="Calibri"/>
                <a:cs typeface="Calibri"/>
              </a:rPr>
              <a:t>or</a:t>
            </a:r>
            <a:r>
              <a:rPr sz="2000" b="1" spc="20" dirty="0">
                <a:solidFill>
                  <a:srgbClr val="434343"/>
                </a:solidFill>
                <a:latin typeface="Calibri"/>
                <a:cs typeface="Calibri"/>
              </a:rPr>
              <a:t> </a:t>
            </a:r>
            <a:r>
              <a:rPr sz="2000" b="1" spc="175" dirty="0">
                <a:solidFill>
                  <a:srgbClr val="434343"/>
                </a:solidFill>
                <a:latin typeface="Calibri"/>
                <a:cs typeface="Calibri"/>
              </a:rPr>
              <a:t>Use-</a:t>
            </a:r>
            <a:r>
              <a:rPr sz="2000" b="1" spc="170" dirty="0">
                <a:solidFill>
                  <a:srgbClr val="434343"/>
                </a:solidFill>
                <a:latin typeface="Calibri"/>
                <a:cs typeface="Calibri"/>
              </a:rPr>
              <a:t>case</a:t>
            </a:r>
            <a:r>
              <a:rPr sz="2000" b="1" spc="20" dirty="0">
                <a:solidFill>
                  <a:srgbClr val="434343"/>
                </a:solidFill>
                <a:latin typeface="Calibri"/>
                <a:cs typeface="Calibri"/>
              </a:rPr>
              <a:t> </a:t>
            </a:r>
            <a:r>
              <a:rPr sz="2000" b="1" spc="120" dirty="0">
                <a:solidFill>
                  <a:srgbClr val="434343"/>
                </a:solidFill>
                <a:latin typeface="Calibri"/>
                <a:cs typeface="Calibri"/>
              </a:rPr>
              <a:t>diagram</a:t>
            </a:r>
            <a:r>
              <a:rPr lang="en-US" sz="1800" b="1" spc="120" dirty="0">
                <a:solidFill>
                  <a:srgbClr val="434343"/>
                </a:solidFill>
                <a:latin typeface="Calibri"/>
                <a:cs typeface="Calibri"/>
              </a:rPr>
              <a:t>:</a:t>
            </a:r>
            <a:endParaRPr sz="1800" dirty="0">
              <a:latin typeface="Calibri"/>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13" name="Picture 12" descr="A diagram of a smart system&#10;&#10;AI-generated content may be incorrect.">
            <a:extLst>
              <a:ext uri="{FF2B5EF4-FFF2-40B4-BE49-F238E27FC236}">
                <a16:creationId xmlns:a16="http://schemas.microsoft.com/office/drawing/2014/main" id="{6F6EEC3E-F418-97F1-40D1-27CA12FC6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7894" y="1027080"/>
            <a:ext cx="5403706" cy="3678269"/>
          </a:xfrm>
          <a:prstGeom prst="rect">
            <a:avLst/>
          </a:prstGeom>
        </p:spPr>
      </p:pic>
      <p:pic>
        <p:nvPicPr>
          <p:cNvPr id="19" name="Picture 18" descr="A diagram of a process&#10;&#10;AI-generated content may be incorrect.">
            <a:extLst>
              <a:ext uri="{FF2B5EF4-FFF2-40B4-BE49-F238E27FC236}">
                <a16:creationId xmlns:a16="http://schemas.microsoft.com/office/drawing/2014/main" id="{043B9144-51B8-22F2-3F07-022625856C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 y="1194376"/>
            <a:ext cx="3643343" cy="35109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9801" y="590550"/>
            <a:ext cx="3193000" cy="579646"/>
          </a:xfrm>
          <a:prstGeom prst="rect">
            <a:avLst/>
          </a:prstGeom>
        </p:spPr>
        <p:txBody>
          <a:bodyPr vert="horz" wrap="square" lIns="0" tIns="12700" rIns="0" bIns="0" rtlCol="0">
            <a:spAutoFit/>
          </a:bodyPr>
          <a:lstStyle/>
          <a:p>
            <a:pPr marL="12700">
              <a:lnSpc>
                <a:spcPct val="100000"/>
              </a:lnSpc>
              <a:spcBef>
                <a:spcPts val="100"/>
              </a:spcBef>
            </a:pPr>
            <a:r>
              <a:rPr sz="1800" b="1" spc="130" dirty="0">
                <a:solidFill>
                  <a:srgbClr val="434343"/>
                </a:solidFill>
                <a:latin typeface="Calibri"/>
                <a:cs typeface="Calibri"/>
              </a:rPr>
              <a:t>Architecture</a:t>
            </a:r>
            <a:r>
              <a:rPr sz="1800" b="1" spc="30" dirty="0">
                <a:solidFill>
                  <a:srgbClr val="434343"/>
                </a:solidFill>
                <a:latin typeface="Calibri"/>
                <a:cs typeface="Calibri"/>
              </a:rPr>
              <a:t> </a:t>
            </a:r>
            <a:r>
              <a:rPr sz="1800" b="1" spc="130" dirty="0">
                <a:solidFill>
                  <a:srgbClr val="434343"/>
                </a:solidFill>
                <a:latin typeface="Calibri"/>
                <a:cs typeface="Calibri"/>
              </a:rPr>
              <a:t>diagram</a:t>
            </a:r>
            <a:r>
              <a:rPr sz="1800" b="1" spc="30" dirty="0">
                <a:solidFill>
                  <a:srgbClr val="434343"/>
                </a:solidFill>
                <a:latin typeface="Calibri"/>
                <a:cs typeface="Calibri"/>
              </a:rPr>
              <a:t> </a:t>
            </a:r>
            <a:r>
              <a:rPr sz="1800" b="1" spc="110" dirty="0">
                <a:solidFill>
                  <a:srgbClr val="434343"/>
                </a:solidFill>
                <a:latin typeface="Calibri"/>
                <a:cs typeface="Calibri"/>
              </a:rPr>
              <a:t>of</a:t>
            </a:r>
            <a:r>
              <a:rPr sz="1800" b="1" spc="30" dirty="0">
                <a:solidFill>
                  <a:srgbClr val="434343"/>
                </a:solidFill>
                <a:latin typeface="Calibri"/>
                <a:cs typeface="Calibri"/>
              </a:rPr>
              <a:t> </a:t>
            </a:r>
            <a:r>
              <a:rPr sz="1800" b="1" spc="120" dirty="0">
                <a:solidFill>
                  <a:srgbClr val="434343"/>
                </a:solidFill>
                <a:latin typeface="Calibri"/>
                <a:cs typeface="Calibri"/>
              </a:rPr>
              <a:t>the</a:t>
            </a:r>
            <a:endParaRPr lang="en-US" sz="1800" b="1" spc="120" dirty="0">
              <a:solidFill>
                <a:srgbClr val="434343"/>
              </a:solidFill>
              <a:latin typeface="Calibri"/>
              <a:cs typeface="Calibri"/>
            </a:endParaRPr>
          </a:p>
          <a:p>
            <a:pPr marL="12700">
              <a:lnSpc>
                <a:spcPct val="100000"/>
              </a:lnSpc>
              <a:spcBef>
                <a:spcPts val="100"/>
              </a:spcBef>
            </a:pPr>
            <a:r>
              <a:rPr sz="1800" b="1" spc="35" dirty="0">
                <a:solidFill>
                  <a:srgbClr val="434343"/>
                </a:solidFill>
                <a:latin typeface="Calibri"/>
                <a:cs typeface="Calibri"/>
              </a:rPr>
              <a:t> </a:t>
            </a:r>
            <a:r>
              <a:rPr sz="1800" b="1" spc="145" dirty="0">
                <a:solidFill>
                  <a:srgbClr val="434343"/>
                </a:solidFill>
                <a:latin typeface="Calibri"/>
                <a:cs typeface="Calibri"/>
              </a:rPr>
              <a:t>proposed</a:t>
            </a:r>
            <a:r>
              <a:rPr sz="1800" b="1" spc="30" dirty="0">
                <a:solidFill>
                  <a:srgbClr val="434343"/>
                </a:solidFill>
                <a:latin typeface="Calibri"/>
                <a:cs typeface="Calibri"/>
              </a:rPr>
              <a:t> </a:t>
            </a:r>
            <a:r>
              <a:rPr sz="1800" b="1" spc="95" dirty="0">
                <a:solidFill>
                  <a:srgbClr val="434343"/>
                </a:solidFill>
                <a:latin typeface="Calibri"/>
                <a:cs typeface="Calibri"/>
              </a:rPr>
              <a:t>solution</a:t>
            </a:r>
            <a:endParaRPr sz="1800" dirty="0">
              <a:latin typeface="Calibri"/>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5" name="Picture 4" descr="A diagram of a system&#10;&#10;AI-generated content may be incorrect.">
            <a:extLst>
              <a:ext uri="{FF2B5EF4-FFF2-40B4-BE49-F238E27FC236}">
                <a16:creationId xmlns:a16="http://schemas.microsoft.com/office/drawing/2014/main" id="{38BF75E9-729B-C1D2-253B-C76666FC42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66675"/>
            <a:ext cx="5372100" cy="5010150"/>
          </a:xfrm>
          <a:prstGeom prst="rect">
            <a:avLst/>
          </a:prstGeom>
        </p:spPr>
      </p:pic>
      <p:sp>
        <p:nvSpPr>
          <p:cNvPr id="7" name="TextBox 6">
            <a:extLst>
              <a:ext uri="{FF2B5EF4-FFF2-40B4-BE49-F238E27FC236}">
                <a16:creationId xmlns:a16="http://schemas.microsoft.com/office/drawing/2014/main" id="{F150941C-9767-84E2-32C7-BFFE4993D1B5}"/>
              </a:ext>
            </a:extLst>
          </p:cNvPr>
          <p:cNvSpPr txBox="1"/>
          <p:nvPr/>
        </p:nvSpPr>
        <p:spPr>
          <a:xfrm>
            <a:off x="159800" y="1352550"/>
            <a:ext cx="3345400" cy="2893100"/>
          </a:xfrm>
          <a:prstGeom prst="rect">
            <a:avLst/>
          </a:prstGeom>
          <a:noFill/>
        </p:spPr>
        <p:txBody>
          <a:bodyPr wrap="square">
            <a:spAutoFit/>
          </a:bodyPr>
          <a:lstStyle/>
          <a:p>
            <a:r>
              <a:rPr lang="en-IN" sz="1400" dirty="0"/>
              <a:t>This system uses IoT sensors in the field to monitor soil moisture, nutrients, and crop health in real-time. This data is transmitted via a Gateway (ESP32) to a Cloud Platform, where an AI Engine analyses it to predict irrigation needs and detect plant diseases. Based on these insights, the system automatically triggers pumps or drones to take action. Finally, farmers receive live updates and alerts through a mobile app, allowing them to manage their crops efficiently from anywhere.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063A4D-9B6F-D956-E5B9-EC2E1019E26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7DAF025-CB24-58DB-98B1-98D87DFEE8CD}"/>
              </a:ext>
            </a:extLst>
          </p:cNvPr>
          <p:cNvSpPr txBox="1"/>
          <p:nvPr/>
        </p:nvSpPr>
        <p:spPr>
          <a:xfrm>
            <a:off x="304800" y="895350"/>
            <a:ext cx="8305800" cy="6922408"/>
          </a:xfrm>
          <a:prstGeom prst="rect">
            <a:avLst/>
          </a:prstGeom>
        </p:spPr>
        <p:txBody>
          <a:bodyPr vert="horz" wrap="square" lIns="0" tIns="12700" rIns="0" bIns="0" rtlCol="0">
            <a:spAutoFit/>
          </a:bodyPr>
          <a:lstStyle/>
          <a:p>
            <a:pPr marL="12700">
              <a:lnSpc>
                <a:spcPct val="100000"/>
              </a:lnSpc>
              <a:spcBef>
                <a:spcPts val="100"/>
              </a:spcBef>
            </a:pPr>
            <a:r>
              <a:rPr lang="en-US" sz="1800" b="1" spc="135" dirty="0">
                <a:solidFill>
                  <a:srgbClr val="434343"/>
                </a:solidFill>
                <a:latin typeface="Calibri"/>
                <a:cs typeface="Calibri"/>
              </a:rPr>
              <a:t>                        Implementations For Further Development</a:t>
            </a:r>
          </a:p>
          <a:p>
            <a:pPr marL="12700">
              <a:lnSpc>
                <a:spcPct val="100000"/>
              </a:lnSpc>
              <a:spcBef>
                <a:spcPts val="100"/>
              </a:spcBef>
            </a:pPr>
            <a:endParaRPr lang="en-US" b="1" spc="135" dirty="0">
              <a:solidFill>
                <a:srgbClr val="434343"/>
              </a:solidFill>
              <a:latin typeface="Calibri"/>
              <a:cs typeface="Calibri"/>
            </a:endParaRPr>
          </a:p>
          <a:p>
            <a:pPr marL="298450" indent="-285750">
              <a:lnSpc>
                <a:spcPct val="100000"/>
              </a:lnSpc>
              <a:spcBef>
                <a:spcPts val="100"/>
              </a:spcBef>
              <a:buFont typeface="Wingdings" panose="05000000000000000000" pitchFamily="2" charset="2"/>
              <a:buChar char="Ø"/>
            </a:pPr>
            <a:r>
              <a:rPr lang="en-US" sz="1800" b="1" spc="135" dirty="0">
                <a:solidFill>
                  <a:srgbClr val="434343"/>
                </a:solidFill>
                <a:latin typeface="+mn-lt"/>
                <a:cs typeface="Calibri"/>
              </a:rPr>
              <a:t>Solar-Powered Autonomy: </a:t>
            </a:r>
            <a:r>
              <a:rPr lang="en-US" sz="1400" spc="135" dirty="0">
                <a:solidFill>
                  <a:srgbClr val="434343"/>
                </a:solidFill>
                <a:latin typeface="+mn-lt"/>
                <a:cs typeface="Calibri"/>
              </a:rPr>
              <a:t>Equipping all field sensors and pumps with solar panels to make the farm fully self-sufficient and green.</a:t>
            </a:r>
          </a:p>
          <a:p>
            <a:pPr marL="298450" indent="-285750">
              <a:lnSpc>
                <a:spcPct val="100000"/>
              </a:lnSpc>
              <a:spcBef>
                <a:spcPts val="100"/>
              </a:spcBef>
              <a:buFont typeface="Wingdings" panose="05000000000000000000" pitchFamily="2" charset="2"/>
              <a:buChar char="Ø"/>
            </a:pPr>
            <a:r>
              <a:rPr lang="en-US" sz="1800" b="1" spc="135" dirty="0">
                <a:solidFill>
                  <a:srgbClr val="434343"/>
                </a:solidFill>
                <a:latin typeface="+mn-lt"/>
                <a:cs typeface="Calibri"/>
              </a:rPr>
              <a:t>Satellite Sight: </a:t>
            </a:r>
            <a:r>
              <a:rPr lang="en-US" sz="1400" spc="135" dirty="0">
                <a:solidFill>
                  <a:srgbClr val="434343"/>
                </a:solidFill>
                <a:latin typeface="+mn-lt"/>
                <a:cs typeface="Calibri"/>
              </a:rPr>
              <a:t>Merging ground sensor data with satellite imagery to monitor crop health across massive areas that drones can't reach</a:t>
            </a:r>
            <a:r>
              <a:rPr lang="en-US" sz="1800" spc="135" dirty="0">
                <a:solidFill>
                  <a:srgbClr val="434343"/>
                </a:solidFill>
                <a:latin typeface="+mn-lt"/>
                <a:cs typeface="Calibri"/>
              </a:rPr>
              <a:t>.</a:t>
            </a:r>
          </a:p>
          <a:p>
            <a:pPr marL="298450" indent="-285750">
              <a:lnSpc>
                <a:spcPct val="100000"/>
              </a:lnSpc>
              <a:spcBef>
                <a:spcPts val="100"/>
              </a:spcBef>
              <a:buFont typeface="Wingdings" panose="05000000000000000000" pitchFamily="2" charset="2"/>
              <a:buChar char="Ø"/>
            </a:pPr>
            <a:r>
              <a:rPr lang="en-US" sz="1800" b="1" spc="135" dirty="0">
                <a:solidFill>
                  <a:srgbClr val="434343"/>
                </a:solidFill>
                <a:latin typeface="+mn-lt"/>
                <a:cs typeface="Calibri"/>
              </a:rPr>
              <a:t>Leak Detection: </a:t>
            </a:r>
            <a:r>
              <a:rPr lang="en-US" sz="1400" spc="135" dirty="0">
                <a:solidFill>
                  <a:srgbClr val="434343"/>
                </a:solidFill>
                <a:latin typeface="+mn-lt"/>
                <a:cs typeface="Calibri"/>
              </a:rPr>
              <a:t>Using AI to sense tiny drops in water pressure, instantly stopping leaks before a single gallon is wasted.</a:t>
            </a:r>
          </a:p>
          <a:p>
            <a:pPr marL="298450" indent="-285750">
              <a:lnSpc>
                <a:spcPct val="100000"/>
              </a:lnSpc>
              <a:spcBef>
                <a:spcPts val="100"/>
              </a:spcBef>
              <a:buFont typeface="Wingdings" panose="05000000000000000000" pitchFamily="2" charset="2"/>
              <a:buChar char="Ø"/>
            </a:pPr>
            <a:r>
              <a:rPr lang="en-US" sz="1800" b="1" spc="135" dirty="0">
                <a:solidFill>
                  <a:srgbClr val="434343"/>
                </a:solidFill>
                <a:latin typeface="+mn-lt"/>
                <a:cs typeface="Calibri"/>
              </a:rPr>
              <a:t>Edge Intelligence: </a:t>
            </a:r>
            <a:r>
              <a:rPr lang="en-US" sz="1400" spc="135" dirty="0">
                <a:solidFill>
                  <a:srgbClr val="434343"/>
                </a:solidFill>
                <a:latin typeface="+mn-lt"/>
                <a:cs typeface="Calibri"/>
              </a:rPr>
              <a:t>Teaching the field cameras to "think" locally so they can detect pests instantly, even without an internet connection.</a:t>
            </a:r>
          </a:p>
          <a:p>
            <a:pPr marL="298450" indent="-285750">
              <a:lnSpc>
                <a:spcPct val="100000"/>
              </a:lnSpc>
              <a:spcBef>
                <a:spcPts val="100"/>
              </a:spcBef>
              <a:buFont typeface="Wingdings" panose="05000000000000000000" pitchFamily="2" charset="2"/>
              <a:buChar char="Ø"/>
            </a:pPr>
            <a:r>
              <a:rPr lang="en-US" sz="1800" b="1" spc="135" dirty="0">
                <a:solidFill>
                  <a:srgbClr val="434343"/>
                </a:solidFill>
                <a:latin typeface="+mn-lt"/>
                <a:cs typeface="Calibri"/>
              </a:rPr>
              <a:t>Smart Weather Fusion: </a:t>
            </a:r>
            <a:r>
              <a:rPr lang="en-US" sz="1400" spc="135" dirty="0">
                <a:solidFill>
                  <a:srgbClr val="434343"/>
                </a:solidFill>
                <a:latin typeface="+mn-lt"/>
                <a:cs typeface="Calibri"/>
              </a:rPr>
              <a:t>Connecting the system to global climate forecasts to skip irrigation if rain is predicted in the next hour.</a:t>
            </a:r>
          </a:p>
          <a:p>
            <a:pPr marL="298450" indent="-285750">
              <a:lnSpc>
                <a:spcPct val="100000"/>
              </a:lnSpc>
              <a:spcBef>
                <a:spcPts val="100"/>
              </a:spcBef>
              <a:buFont typeface="Wingdings" panose="05000000000000000000" pitchFamily="2" charset="2"/>
              <a:buChar char="Ø"/>
            </a:pPr>
            <a:r>
              <a:rPr lang="en-US" sz="1800" b="1" spc="135" dirty="0">
                <a:solidFill>
                  <a:srgbClr val="434343"/>
                </a:solidFill>
                <a:latin typeface="+mn-lt"/>
                <a:cs typeface="Calibri"/>
              </a:rPr>
              <a:t>Community Sharing: </a:t>
            </a:r>
            <a:r>
              <a:rPr lang="en-US" sz="1400" spc="135" dirty="0">
                <a:solidFill>
                  <a:srgbClr val="434343"/>
                </a:solidFill>
                <a:latin typeface="+mn-lt"/>
                <a:cs typeface="Calibri"/>
              </a:rPr>
              <a:t>Creating a "Neighborhood Grid" where farmers can trade surplus water or alert each other about spreading diseases.</a:t>
            </a:r>
          </a:p>
          <a:p>
            <a:pPr marL="12700">
              <a:lnSpc>
                <a:spcPct val="100000"/>
              </a:lnSpc>
              <a:spcBef>
                <a:spcPts val="100"/>
              </a:spcBef>
            </a:pPr>
            <a:endParaRPr lang="en-US" sz="1400" spc="135" dirty="0">
              <a:solidFill>
                <a:srgbClr val="434343"/>
              </a:solidFill>
              <a:latin typeface="+mn-lt"/>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lang="en-US" b="1" spc="135" dirty="0">
              <a:solidFill>
                <a:srgbClr val="434343"/>
              </a:solidFill>
              <a:latin typeface="Calibri"/>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lang="en-US" b="1" spc="135" dirty="0">
              <a:solidFill>
                <a:srgbClr val="434343"/>
              </a:solidFill>
              <a:latin typeface="Calibri"/>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lang="en-US" b="1" spc="135" dirty="0">
              <a:solidFill>
                <a:srgbClr val="434343"/>
              </a:solidFill>
              <a:latin typeface="Calibri"/>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lang="en-US" b="1" spc="135" dirty="0">
              <a:solidFill>
                <a:srgbClr val="434343"/>
              </a:solidFill>
              <a:latin typeface="Calibri"/>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sz="1800" dirty="0">
              <a:latin typeface="Calibri"/>
              <a:cs typeface="Calibri"/>
            </a:endParaRPr>
          </a:p>
        </p:txBody>
      </p:sp>
      <p:pic>
        <p:nvPicPr>
          <p:cNvPr id="3" name="object 3">
            <a:extLst>
              <a:ext uri="{FF2B5EF4-FFF2-40B4-BE49-F238E27FC236}">
                <a16:creationId xmlns:a16="http://schemas.microsoft.com/office/drawing/2014/main" id="{EF11AB1F-F696-4F47-A29B-8E72792A5401}"/>
              </a:ext>
            </a:extLst>
          </p:cNvPr>
          <p:cNvPicPr/>
          <p:nvPr/>
        </p:nvPicPr>
        <p:blipFill>
          <a:blip r:embed="rId2" cstate="print"/>
          <a:stretch>
            <a:fillRect/>
          </a:stretch>
        </p:blipFill>
        <p:spPr>
          <a:xfrm>
            <a:off x="159800" y="174174"/>
            <a:ext cx="1826526" cy="327424"/>
          </a:xfrm>
          <a:prstGeom prst="rect">
            <a:avLst/>
          </a:prstGeom>
        </p:spPr>
      </p:pic>
    </p:spTree>
    <p:extLst>
      <p:ext uri="{BB962C8B-B14F-4D97-AF65-F5344CB8AC3E}">
        <p14:creationId xmlns:p14="http://schemas.microsoft.com/office/powerpoint/2010/main" val="1766923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19625" y="906881"/>
            <a:ext cx="3594735" cy="1397000"/>
          </a:xfrm>
          <a:prstGeom prst="rect">
            <a:avLst/>
          </a:prstGeom>
        </p:spPr>
        <p:txBody>
          <a:bodyPr vert="horz" wrap="square" lIns="0" tIns="12700" rIns="0" bIns="0" rtlCol="0">
            <a:spAutoFit/>
          </a:bodyPr>
          <a:lstStyle/>
          <a:p>
            <a:pPr marL="12700">
              <a:lnSpc>
                <a:spcPct val="100000"/>
              </a:lnSpc>
              <a:spcBef>
                <a:spcPts val="100"/>
              </a:spcBef>
            </a:pPr>
            <a:r>
              <a:rPr sz="1800" b="1" spc="114" dirty="0">
                <a:solidFill>
                  <a:srgbClr val="434343"/>
                </a:solidFill>
                <a:latin typeface="Calibri"/>
                <a:cs typeface="Calibri"/>
              </a:rPr>
              <a:t>Provide</a:t>
            </a:r>
            <a:r>
              <a:rPr sz="1800" b="1" spc="5" dirty="0">
                <a:solidFill>
                  <a:srgbClr val="434343"/>
                </a:solidFill>
                <a:latin typeface="Calibri"/>
                <a:cs typeface="Calibri"/>
              </a:rPr>
              <a:t> </a:t>
            </a:r>
            <a:r>
              <a:rPr sz="1800" b="1" spc="95" dirty="0">
                <a:solidFill>
                  <a:srgbClr val="434343"/>
                </a:solidFill>
                <a:latin typeface="Calibri"/>
                <a:cs typeface="Calibri"/>
              </a:rPr>
              <a:t>links</a:t>
            </a:r>
            <a:r>
              <a:rPr sz="1800" b="1" spc="15" dirty="0">
                <a:solidFill>
                  <a:srgbClr val="434343"/>
                </a:solidFill>
                <a:latin typeface="Calibri"/>
                <a:cs typeface="Calibri"/>
              </a:rPr>
              <a:t> </a:t>
            </a:r>
            <a:r>
              <a:rPr sz="1800" b="1" spc="100" dirty="0">
                <a:solidFill>
                  <a:srgbClr val="434343"/>
                </a:solidFill>
                <a:latin typeface="Calibri"/>
                <a:cs typeface="Calibri"/>
              </a:rPr>
              <a:t>to</a:t>
            </a:r>
            <a:r>
              <a:rPr sz="1800" b="1" spc="15" dirty="0">
                <a:solidFill>
                  <a:srgbClr val="434343"/>
                </a:solidFill>
                <a:latin typeface="Calibri"/>
                <a:cs typeface="Calibri"/>
              </a:rPr>
              <a:t> </a:t>
            </a:r>
            <a:r>
              <a:rPr sz="1800" b="1" spc="90" dirty="0">
                <a:solidFill>
                  <a:srgbClr val="434343"/>
                </a:solidFill>
                <a:latin typeface="Calibri"/>
                <a:cs typeface="Calibri"/>
              </a:rPr>
              <a:t>your:</a:t>
            </a:r>
            <a:endParaRPr sz="1800">
              <a:latin typeface="Calibri"/>
              <a:cs typeface="Calibri"/>
            </a:endParaRPr>
          </a:p>
          <a:p>
            <a:pPr marL="469265" indent="-398145">
              <a:lnSpc>
                <a:spcPct val="100000"/>
              </a:lnSpc>
              <a:spcBef>
                <a:spcPts val="2160"/>
              </a:spcBef>
              <a:buAutoNum type="arabicPeriod"/>
              <a:tabLst>
                <a:tab pos="469265" algn="l"/>
              </a:tabLst>
            </a:pPr>
            <a:r>
              <a:rPr sz="1800" b="1" spc="145" dirty="0">
                <a:solidFill>
                  <a:srgbClr val="434343"/>
                </a:solidFill>
                <a:latin typeface="Calibri"/>
                <a:cs typeface="Calibri"/>
              </a:rPr>
              <a:t>GitHub</a:t>
            </a:r>
            <a:r>
              <a:rPr sz="1800" b="1" spc="20" dirty="0">
                <a:solidFill>
                  <a:srgbClr val="434343"/>
                </a:solidFill>
                <a:latin typeface="Calibri"/>
                <a:cs typeface="Calibri"/>
              </a:rPr>
              <a:t> </a:t>
            </a:r>
            <a:r>
              <a:rPr sz="1800" b="1" spc="120" dirty="0">
                <a:solidFill>
                  <a:srgbClr val="434343"/>
                </a:solidFill>
                <a:latin typeface="Calibri"/>
                <a:cs typeface="Calibri"/>
              </a:rPr>
              <a:t>Public</a:t>
            </a:r>
            <a:r>
              <a:rPr sz="1800" b="1" spc="25" dirty="0">
                <a:solidFill>
                  <a:srgbClr val="434343"/>
                </a:solidFill>
                <a:latin typeface="Calibri"/>
                <a:cs typeface="Calibri"/>
              </a:rPr>
              <a:t> </a:t>
            </a:r>
            <a:r>
              <a:rPr sz="1800" b="1" spc="120" dirty="0">
                <a:solidFill>
                  <a:srgbClr val="434343"/>
                </a:solidFill>
                <a:latin typeface="Calibri"/>
                <a:cs typeface="Calibri"/>
              </a:rPr>
              <a:t>Repository</a:t>
            </a:r>
            <a:endParaRPr sz="1800">
              <a:latin typeface="Calibri"/>
              <a:cs typeface="Calibri"/>
            </a:endParaRPr>
          </a:p>
          <a:p>
            <a:pPr marL="469265" indent="-419734">
              <a:lnSpc>
                <a:spcPct val="100000"/>
              </a:lnSpc>
              <a:buAutoNum type="arabicPeriod"/>
              <a:tabLst>
                <a:tab pos="469265" algn="l"/>
              </a:tabLst>
            </a:pPr>
            <a:r>
              <a:rPr sz="1800" b="1" spc="155" dirty="0">
                <a:solidFill>
                  <a:srgbClr val="434343"/>
                </a:solidFill>
                <a:latin typeface="Calibri"/>
                <a:cs typeface="Calibri"/>
              </a:rPr>
              <a:t>Demo</a:t>
            </a:r>
            <a:r>
              <a:rPr sz="1800" b="1" spc="15" dirty="0">
                <a:solidFill>
                  <a:srgbClr val="434343"/>
                </a:solidFill>
                <a:latin typeface="Calibri"/>
                <a:cs typeface="Calibri"/>
              </a:rPr>
              <a:t> </a:t>
            </a:r>
            <a:r>
              <a:rPr sz="1800" b="1" spc="120" dirty="0">
                <a:solidFill>
                  <a:srgbClr val="434343"/>
                </a:solidFill>
                <a:latin typeface="Calibri"/>
                <a:cs typeface="Calibri"/>
              </a:rPr>
              <a:t>Video</a:t>
            </a:r>
            <a:r>
              <a:rPr sz="1800" b="1" spc="15" dirty="0">
                <a:solidFill>
                  <a:srgbClr val="434343"/>
                </a:solidFill>
                <a:latin typeface="Calibri"/>
                <a:cs typeface="Calibri"/>
              </a:rPr>
              <a:t> </a:t>
            </a:r>
            <a:r>
              <a:rPr sz="1800" b="1" spc="120" dirty="0">
                <a:solidFill>
                  <a:srgbClr val="434343"/>
                </a:solidFill>
                <a:latin typeface="Calibri"/>
                <a:cs typeface="Calibri"/>
              </a:rPr>
              <a:t>Link</a:t>
            </a:r>
            <a:r>
              <a:rPr sz="1800" b="1" spc="15" dirty="0">
                <a:solidFill>
                  <a:srgbClr val="434343"/>
                </a:solidFill>
                <a:latin typeface="Calibri"/>
                <a:cs typeface="Calibri"/>
              </a:rPr>
              <a:t> </a:t>
            </a:r>
            <a:r>
              <a:rPr sz="1800" b="1" spc="100" dirty="0">
                <a:solidFill>
                  <a:srgbClr val="434343"/>
                </a:solidFill>
                <a:latin typeface="Calibri"/>
                <a:cs typeface="Calibri"/>
              </a:rPr>
              <a:t>(3</a:t>
            </a:r>
            <a:r>
              <a:rPr sz="1800" b="1" spc="15" dirty="0">
                <a:solidFill>
                  <a:srgbClr val="434343"/>
                </a:solidFill>
                <a:latin typeface="Calibri"/>
                <a:cs typeface="Calibri"/>
              </a:rPr>
              <a:t> </a:t>
            </a:r>
            <a:r>
              <a:rPr sz="1800" b="1" spc="85" dirty="0">
                <a:solidFill>
                  <a:srgbClr val="434343"/>
                </a:solidFill>
                <a:latin typeface="Calibri"/>
                <a:cs typeface="Calibri"/>
              </a:rPr>
              <a:t>Minutes)</a:t>
            </a:r>
            <a:endParaRPr sz="1800">
              <a:latin typeface="Calibri"/>
              <a:cs typeface="Calibri"/>
            </a:endParaRPr>
          </a:p>
          <a:p>
            <a:pPr marL="469265" indent="-425450">
              <a:lnSpc>
                <a:spcPct val="100000"/>
              </a:lnSpc>
              <a:buAutoNum type="arabicPeriod"/>
              <a:tabLst>
                <a:tab pos="469265" algn="l"/>
              </a:tabLst>
            </a:pPr>
            <a:r>
              <a:rPr sz="1800" b="1" spc="105" dirty="0">
                <a:solidFill>
                  <a:srgbClr val="434343"/>
                </a:solidFill>
                <a:latin typeface="Calibri"/>
                <a:cs typeface="Calibri"/>
              </a:rPr>
              <a:t>MVP</a:t>
            </a:r>
            <a:r>
              <a:rPr sz="1800" b="1" spc="15" dirty="0">
                <a:solidFill>
                  <a:srgbClr val="434343"/>
                </a:solidFill>
                <a:latin typeface="Calibri"/>
                <a:cs typeface="Calibri"/>
              </a:rPr>
              <a:t> </a:t>
            </a:r>
            <a:r>
              <a:rPr sz="1800" b="1" spc="100" dirty="0">
                <a:solidFill>
                  <a:srgbClr val="434343"/>
                </a:solidFill>
                <a:latin typeface="Calibri"/>
                <a:cs typeface="Calibri"/>
              </a:rPr>
              <a:t>Link</a:t>
            </a:r>
            <a:endParaRPr sz="1800">
              <a:latin typeface="Calibri"/>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20" dirty="0"/>
              <a:t>Thank</a:t>
            </a:r>
            <a:r>
              <a:rPr spc="50" dirty="0"/>
              <a:t> </a:t>
            </a:r>
            <a:r>
              <a:rPr spc="170"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256</TotalTime>
  <Words>714</Words>
  <Application>Microsoft Office PowerPoint</Application>
  <PresentationFormat>On-screen Show (16:9)</PresentationFormat>
  <Paragraphs>54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PowerPoint Presentation</vt:lpstr>
      <vt:lpstr>Problem statement: “An AI-powered sensor system that protects crops and saves water by alerting farmers before failure occurs.”</vt:lpstr>
      <vt:lpstr>Opportunities:</vt:lpstr>
      <vt:lpstr>🌱 Real-Time Soil Moisture Monitoring Continuously measures soil water content using field sensors. 🌦 Weather &amp; Rainfall Detection Tracks temperature, humidity, and rainfall conditions affecting crops. 🤖 AI-Based Water Scarcity Prediction Predicts upcoming water shortage based on sensor data patterns. 🌾 Crop Failure Risk Prediction Identifies early signs of crop stress and potential failure. 🚨 Early Warning Alerts Provides alerts using LED indicators and buzzer signals. 🔁 Automatic Irrigation Control Automatically switches irrigation ON/OFF to prevent under or over-watering. 👨‍🌾 Farmer-Friendly Hardware Interface Works without smartphones, apps, or literacy. ⚡ Low-Cost &amp; Energy Efficient Design Suitable for rural deployment, optional solar power support. 🌍 Supports Sustainable Agriculture Saves water, improves yield, and reduces resource wastage.</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 GDG on Campus - TechSprint Slides Template</dc:title>
  <dc:creator>chandrika jogi</dc:creator>
  <cp:lastModifiedBy>chandrika jogi</cp:lastModifiedBy>
  <cp:revision>2</cp:revision>
  <dcterms:created xsi:type="dcterms:W3CDTF">2025-12-26T14:18:39Z</dcterms:created>
  <dcterms:modified xsi:type="dcterms:W3CDTF">2025-12-26T19:09:51Z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2025-12-26T00:00:00Z</vt:filetime>
  </property>
  <property fmtid="{D5CDD505-2E9C-101B-9397-08002B2CF9AE}" pid="3" name="Creator">
    <vt:lpwstr>Google</vt:lpwstr>
  </property>
  <property fmtid="{D5CDD505-2E9C-101B-9397-08002B2CF9AE}" pid="4" name="LastSaved">
    <vt:filetime>2025-12-26T00:00:00Z</vt:filetime>
  </property>
</Properties>
</file>